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2" r:id="rId6"/>
    <p:sldId id="257" r:id="rId7"/>
    <p:sldId id="295" r:id="rId8"/>
    <p:sldId id="294" r:id="rId9"/>
    <p:sldId id="286" r:id="rId10"/>
    <p:sldId id="290" r:id="rId11"/>
    <p:sldId id="291" r:id="rId12"/>
    <p:sldId id="289" r:id="rId13"/>
    <p:sldId id="298" r:id="rId14"/>
    <p:sldId id="299" r:id="rId15"/>
    <p:sldId id="296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646" autoAdjust="0"/>
  </p:normalViewPr>
  <p:slideViewPr>
    <p:cSldViewPr snapToGrid="0">
      <p:cViewPr>
        <p:scale>
          <a:sx n="50" d="100"/>
          <a:sy n="50" d="100"/>
        </p:scale>
        <p:origin x="1066" y="67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3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DCB03DF-958A-419E-93C9-F4DD4206164B}" type="datetime1">
              <a:rPr lang="ru-RU" smtClean="0"/>
              <a:t>16.11.2025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AFF3A6F-DEFA-45E0-9496-BEE7C2C6F3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3C04E87-AB6C-43AD-B5E7-BB59ED96ADF8}" type="datetime1">
              <a:rPr lang="ru-RU" smtClean="0"/>
              <a:pPr/>
              <a:t>16.11.2025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F97DC217-DF71-1A49-B3EA-559F1F43B0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1788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изображение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ru-RU" sz="6000" b="1">
                <a:solidFill>
                  <a:schemeClr val="bg1"/>
                </a:solidFill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ru-RU" sz="32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ru-RU" sz="4200" b="1">
                <a:solidFill>
                  <a:schemeClr val="bg1"/>
                </a:solidFill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, содержимое и изображение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8" name="Рисунок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, содержимое и изображ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347663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2pPr>
            <a:lvl3pPr marL="6858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3pPr>
            <a:lvl4pPr marL="9144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4pPr>
            <a:lvl5pPr marL="11430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 rtlCol="0"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иаграмма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ru-RU" sz="2800"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75" r:id="rId8"/>
    <p:sldLayoutId id="2147483677" r:id="rId9"/>
    <p:sldLayoutId id="2147483676" r:id="rId10"/>
    <p:sldLayoutId id="2147483661" r:id="rId11"/>
    <p:sldLayoutId id="2147483666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8141399" cy="383013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Карта добрых дел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6E807-B32D-4162-B088-AF4A13F22266}"/>
              </a:ext>
            </a:extLst>
          </p:cNvPr>
          <p:cNvSpPr txBox="1"/>
          <p:nvPr/>
        </p:nvSpPr>
        <p:spPr>
          <a:xfrm>
            <a:off x="2628275" y="5021705"/>
            <a:ext cx="668061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Платформа для видимости и вовлечения в деятельность НКО малых городов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Объединяем добрые дела на одной карте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334425" y="2224947"/>
            <a:ext cx="7150008" cy="4205287"/>
          </a:xfrm>
        </p:spPr>
        <p:txBody>
          <a:bodyPr rtlCol="0">
            <a:normAutofit fontScale="92500"/>
          </a:bodyPr>
          <a:lstStyle>
            <a:defPPr>
              <a:defRPr lang="ru-RU"/>
            </a:defPPr>
          </a:lstStyle>
          <a:p>
            <a:endParaRPr lang="ru-RU" sz="2400" dirty="0"/>
          </a:p>
          <a:p>
            <a:pPr marL="0" lvl="1" indent="0">
              <a:buNone/>
            </a:pPr>
            <a:r>
              <a:rPr lang="ru-RU" sz="2400" b="1" dirty="0"/>
              <a:t>Для жителей:</a:t>
            </a:r>
            <a:r>
              <a:rPr lang="ru-RU" sz="2400" dirty="0"/>
              <a:t> Быстро найти, куда приложить силы</a:t>
            </a:r>
          </a:p>
          <a:p>
            <a:pPr marL="0" lvl="1" indent="0">
              <a:buNone/>
            </a:pPr>
            <a:r>
              <a:rPr lang="ru-RU" sz="2400" b="1" dirty="0"/>
              <a:t>Для НКО:</a:t>
            </a:r>
            <a:r>
              <a:rPr lang="ru-RU" sz="2400" dirty="0"/>
              <a:t> Стать видимыми и привлекать волонтёров</a:t>
            </a:r>
          </a:p>
          <a:p>
            <a:pPr marL="0" lvl="1" indent="0">
              <a:lnSpc>
                <a:spcPct val="210000"/>
              </a:lnSpc>
              <a:buNone/>
            </a:pPr>
            <a:r>
              <a:rPr lang="ru-RU" sz="2400" b="1" dirty="0"/>
              <a:t>Для бизнеса:</a:t>
            </a:r>
            <a:r>
              <a:rPr lang="ru-RU" sz="2400" dirty="0"/>
              <a:t> Прозрачность и точки для социальных инвестиций</a:t>
            </a:r>
          </a:p>
          <a:p>
            <a:pPr marL="0" lvl="1" indent="0">
              <a:buNone/>
            </a:pPr>
            <a:r>
              <a:rPr lang="ru-RU" sz="2400" b="1" dirty="0"/>
              <a:t>Для городов:</a:t>
            </a:r>
            <a:r>
              <a:rPr lang="ru-RU" sz="2400" dirty="0"/>
              <a:t> Рост социальной активности и вовлечённости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5E8D5FB-DC26-46B1-A9D5-848290A9B2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74861" y="2505710"/>
            <a:ext cx="1736139" cy="1602740"/>
          </a:xfrm>
        </p:spPr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200B571-DCDB-4862-AA88-1756B7A671C5}"/>
              </a:ext>
            </a:extLst>
          </p:cNvPr>
          <p:cNvSpPr/>
          <p:nvPr/>
        </p:nvSpPr>
        <p:spPr>
          <a:xfrm>
            <a:off x="9936479" y="3182620"/>
            <a:ext cx="1736139" cy="160274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A27CA7B-710E-415C-A696-A3B5AAD6FC65}"/>
              </a:ext>
            </a:extLst>
          </p:cNvPr>
          <p:cNvSpPr/>
          <p:nvPr/>
        </p:nvSpPr>
        <p:spPr>
          <a:xfrm>
            <a:off x="9646919" y="3859530"/>
            <a:ext cx="1736139" cy="160274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Проблема и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3" y="2796955"/>
            <a:ext cx="4417476" cy="3366815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	НКО в малых городах — «невидимки». Информация разрознена в соцсетях и чатах, нет единой точки входа.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F314A62-6BD7-4CD8-9352-B94878C14CE1}"/>
              </a:ext>
            </a:extLst>
          </p:cNvPr>
          <p:cNvSpPr txBox="1">
            <a:spLocks/>
          </p:cNvSpPr>
          <p:nvPr/>
        </p:nvSpPr>
        <p:spPr>
          <a:xfrm>
            <a:off x="6615662" y="2796955"/>
            <a:ext cx="5121637" cy="33668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	Одностраничный сайт-карта, который объединяет все НКО, делает их деятельность прозрачной и упрощает вовлечение волонтёров и жителей.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7FE6E0-4C35-4331-8907-A83D6B363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89" y="2008681"/>
            <a:ext cx="1220449" cy="122044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95CF0A-39A9-4546-9100-FDD127074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073" y="2008682"/>
            <a:ext cx="1220448" cy="122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Ключевые преимущества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2" y="2087561"/>
            <a:ext cx="6787788" cy="389054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200" b="1" dirty="0"/>
              <a:t>Централизация</a:t>
            </a:r>
            <a:r>
              <a:rPr lang="ru-RU" sz="2200" dirty="0"/>
              <a:t> - вся информация в одном месте</a:t>
            </a:r>
          </a:p>
          <a:p>
            <a:r>
              <a:rPr lang="ru-RU" sz="2200" b="1" dirty="0"/>
              <a:t>Простота</a:t>
            </a:r>
            <a:r>
              <a:rPr lang="ru-RU" sz="2200" dirty="0"/>
              <a:t> - интуитивный интерфейс без обучения</a:t>
            </a:r>
          </a:p>
          <a:p>
            <a:r>
              <a:rPr lang="ru-RU" sz="2200" b="1" dirty="0"/>
              <a:t>Актуальность</a:t>
            </a:r>
            <a:r>
              <a:rPr lang="ru-RU" sz="2200" dirty="0"/>
              <a:t> - система модерации и обновлений</a:t>
            </a:r>
          </a:p>
          <a:p>
            <a:r>
              <a:rPr lang="ru-RU" sz="2200" b="1" dirty="0"/>
              <a:t>Доступность</a:t>
            </a:r>
            <a:r>
              <a:rPr lang="ru-RU" sz="2200" dirty="0"/>
              <a:t> - работает на любом устройстве</a:t>
            </a:r>
          </a:p>
          <a:p>
            <a:r>
              <a:rPr lang="ru-RU" sz="2200" b="1" dirty="0"/>
              <a:t>Масштабируемость</a:t>
            </a:r>
            <a:r>
              <a:rPr lang="ru-RU" sz="2200" dirty="0"/>
              <a:t> - готово к развитию функционала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43392E-825F-43EC-ADBF-301BD5F5D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034" y="2087563"/>
            <a:ext cx="2840639" cy="389054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1" y="472439"/>
            <a:ext cx="7043008" cy="120395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Простая регистрация и безопасный вход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096000" y="2127568"/>
            <a:ext cx="5943600" cy="338296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200" dirty="0"/>
              <a:t>	Быстрый и безопасный доступ к личному кабинету. Всего два поля — </a:t>
            </a:r>
            <a:r>
              <a:rPr lang="ru-RU" sz="2200" dirty="0" err="1"/>
              <a:t>email</a:t>
            </a:r>
            <a:r>
              <a:rPr lang="ru-RU" sz="2200" dirty="0"/>
              <a:t> и пароль — отделяют вас от возможности добавлять и редактировать организации на карте.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489F7D8-4435-4052-B8D4-33D3086A0D5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/>
          <a:stretch>
            <a:fillRect/>
          </a:stretch>
        </p:blipFill>
        <p:spPr>
          <a:xfrm>
            <a:off x="152400" y="2301880"/>
            <a:ext cx="5739613" cy="32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295" y="936885"/>
            <a:ext cx="6015946" cy="135661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Что может наш сайт?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09F77A1-EB8E-4478-ABEB-FD52E36866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397FF-C651-440C-9742-DBD0072A7432}"/>
              </a:ext>
            </a:extLst>
          </p:cNvPr>
          <p:cNvSpPr txBox="1"/>
          <p:nvPr/>
        </p:nvSpPr>
        <p:spPr>
          <a:xfrm>
            <a:off x="508000" y="2293495"/>
            <a:ext cx="4721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Интерактивная карта:</a:t>
            </a:r>
            <a:r>
              <a:rPr lang="ru-RU" sz="2800" dirty="0"/>
              <a:t> Масштабирование, панорамирование, метки НКО.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3ED13-0DB6-4DD9-B908-8270B05E0165}"/>
              </a:ext>
            </a:extLst>
          </p:cNvPr>
          <p:cNvSpPr txBox="1"/>
          <p:nvPr/>
        </p:nvSpPr>
        <p:spPr>
          <a:xfrm>
            <a:off x="1573968" y="3873718"/>
            <a:ext cx="43121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Умный поиск и фильтры:</a:t>
            </a:r>
            <a:r>
              <a:rPr lang="ru-RU" sz="2800" dirty="0"/>
              <a:t> По названию, типу деятельности, городу.</a:t>
            </a:r>
          </a:p>
          <a:p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5F3F19-B676-43BE-96AE-560437AE5B07}"/>
              </a:ext>
            </a:extLst>
          </p:cNvPr>
          <p:cNvSpPr txBox="1"/>
          <p:nvPr/>
        </p:nvSpPr>
        <p:spPr>
          <a:xfrm>
            <a:off x="5008563" y="5228617"/>
            <a:ext cx="5846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Сообщество:</a:t>
            </a:r>
            <a:r>
              <a:rPr lang="ru-RU" sz="2800" dirty="0"/>
              <a:t> Любой пользователь может добавить свою организацию.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841597" cy="165337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Интуитивный и доступный для всех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sz="2800" b="1" dirty="0"/>
              <a:t>Минимум кликов:</a:t>
            </a:r>
            <a:r>
              <a:rPr lang="ru-RU" sz="2800" dirty="0"/>
              <a:t> Поиск и фильтры на главном экране. Карточка НКО открывается по клику на метку.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sz="2800" b="1" dirty="0"/>
              <a:t>Подсказки:</a:t>
            </a:r>
            <a:r>
              <a:rPr lang="ru-RU" sz="2800" dirty="0"/>
              <a:t> при наведении на элементы карты или фильтров. Чистый интерфейс в цветах Росатома.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7659267" cy="170656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Ключевые функции - Карта и поиск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6813" y="2024063"/>
            <a:ext cx="4664075" cy="86903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400" b="1" dirty="0"/>
              <a:t>Интерактивная карта</a:t>
            </a:r>
            <a:r>
              <a:rPr lang="ru-RU" sz="2400" dirty="0"/>
              <a:t> на </a:t>
            </a:r>
            <a:r>
              <a:rPr lang="ru-RU" sz="2400" dirty="0" err="1"/>
              <a:t>Яндекс.Картах</a:t>
            </a:r>
            <a:r>
              <a:rPr lang="ru-RU" sz="2400" dirty="0"/>
              <a:t> API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830646" y="5362633"/>
            <a:ext cx="4664075" cy="86903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sz="2400" b="1" dirty="0"/>
              <a:t>Адаптивный интерфейс</a:t>
            </a:r>
            <a:r>
              <a:rPr lang="ru-RU" sz="2400" dirty="0"/>
              <a:t> для всех устройств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24CE9527-41B4-44D2-BD9E-7F30602AD0BA}"/>
              </a:ext>
            </a:extLst>
          </p:cNvPr>
          <p:cNvSpPr txBox="1">
            <a:spLocks/>
          </p:cNvSpPr>
          <p:nvPr/>
        </p:nvSpPr>
        <p:spPr>
          <a:xfrm>
            <a:off x="4162684" y="2793077"/>
            <a:ext cx="4664075" cy="8690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defPPr>
              <a:defRPr lang="ru-RU"/>
            </a:defPPr>
            <a:lvl1pPr marL="530352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09728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64592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arenR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92024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032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romanL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/>
              <a:t>Умные фильтры:</a:t>
            </a:r>
            <a:r>
              <a:rPr lang="ru-RU" sz="2400" dirty="0"/>
              <a:t> по городам Росатома (31 город) и категориям деятельности</a:t>
            </a:r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90626B57-D010-4EFC-91AF-9C1F9B80B691}"/>
              </a:ext>
            </a:extLst>
          </p:cNvPr>
          <p:cNvSpPr txBox="1">
            <a:spLocks/>
          </p:cNvSpPr>
          <p:nvPr/>
        </p:nvSpPr>
        <p:spPr>
          <a:xfrm>
            <a:off x="971939" y="3910608"/>
            <a:ext cx="4664075" cy="86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530352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09728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64592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arenR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92024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032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romanL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/>
              <a:t>Поиск по названию и описанию</a:t>
            </a:r>
            <a:r>
              <a:rPr lang="ru-RU" sz="2400" dirty="0"/>
              <a:t> НКО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CA0B6DC4-9D06-4556-8BCF-B424470C87EC}"/>
              </a:ext>
            </a:extLst>
          </p:cNvPr>
          <p:cNvSpPr txBox="1">
            <a:spLocks/>
          </p:cNvSpPr>
          <p:nvPr/>
        </p:nvSpPr>
        <p:spPr>
          <a:xfrm>
            <a:off x="5830888" y="4352069"/>
            <a:ext cx="4664075" cy="86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530352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09728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64592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arenR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920240" indent="-53035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032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romanLcPeriod"/>
              <a:defRPr lang="ru-RU"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/>
              <a:t>Метки двух типов:</a:t>
            </a:r>
            <a:r>
              <a:rPr lang="ru-RU" sz="2400" dirty="0"/>
              <a:t> города и одобренные НКО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Демонстрация - Рабочая карта</a:t>
            </a:r>
          </a:p>
        </p:txBody>
      </p: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65CB7708-4210-4A5D-B1DD-8DA72F414612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914400" y="1814207"/>
            <a:ext cx="8985777" cy="418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Добавление НКО 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3173353-3A94-40F1-A4CD-96530E38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4832"/>
            <a:ext cx="3450227" cy="3934968"/>
          </a:xfrm>
        </p:spPr>
        <p:txBody>
          <a:bodyPr/>
          <a:lstStyle/>
          <a:p>
            <a:r>
              <a:rPr lang="ru-RU" sz="2200" dirty="0"/>
              <a:t>После проверки модератором ваша НКО появится на карте и станет доступной тысячам жителей города. Вместе мы создадим полную картину добрых дел вашего региона.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C2886B6-9C3A-4E3B-B638-D7281EA2B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25451"/>
            <a:ext cx="7141353" cy="459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Регистрация пользователей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3173353-3A94-40F1-A4CD-96530E38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4832"/>
            <a:ext cx="4669427" cy="3934968"/>
          </a:xfrm>
        </p:spPr>
        <p:txBody>
          <a:bodyPr/>
          <a:lstStyle/>
          <a:p>
            <a:r>
              <a:rPr lang="ru-RU" sz="2200" dirty="0"/>
              <a:t>	Создайте аккаунт за минуту — укажите </a:t>
            </a:r>
            <a:r>
              <a:rPr lang="ru-RU" sz="2200" dirty="0" err="1"/>
              <a:t>email</a:t>
            </a:r>
            <a:r>
              <a:rPr lang="ru-RU" sz="2200" dirty="0"/>
              <a:t> и пароль, чтобы получить возможность добавлять организации на карту. После регистрации вы сможете предлагать новые НКО и редактировать информацию о них.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E7B1C6-5D43-40A5-83FD-3149EAD57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91" y="2562710"/>
            <a:ext cx="5542211" cy="35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7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365</Words>
  <Application>Microsoft Office PowerPoint</Application>
  <PresentationFormat>Широкоэкранный</PresentationFormat>
  <Paragraphs>52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Пользовательская</vt:lpstr>
      <vt:lpstr>Карта добрых дел</vt:lpstr>
      <vt:lpstr>Объединяем добрые дела на одной карте</vt:lpstr>
      <vt:lpstr>Проблема и Решение</vt:lpstr>
      <vt:lpstr>Ключевые преимущества</vt:lpstr>
      <vt:lpstr>Простая регистрация и безопасный вход</vt:lpstr>
      <vt:lpstr>Что может наш сайт?</vt:lpstr>
      <vt:lpstr>Интуитивный и доступный для всех</vt:lpstr>
      <vt:lpstr>Ключевые функции - Карта и поиск</vt:lpstr>
      <vt:lpstr>Демонстрация - Рабочая карта</vt:lpstr>
      <vt:lpstr>Добавление НКО </vt:lpstr>
      <vt:lpstr>Регистрация пользователей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2023-12-12T16:04:07Z</dcterms:created>
  <dcterms:modified xsi:type="dcterms:W3CDTF">2025-11-16T15:14:32Z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